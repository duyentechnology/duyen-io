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Projected market size ($B)</c:v>
                </c:pt>
              </c:strCache>
            </c:strRef>
          </c:tx>
          <c:spPr>
            <a:solidFill>
              <a:srgbClr val="8B3A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D2E24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Connected packaging (2036)</c:v>
                  </c:pt>
                  <c:pt idx="1">
                    <c:v>Personalized gifts (2033)</c:v>
                  </c:pt>
                  <c:pt idx="2">
                    <c:v>QR codes (2031)</c:v>
                  </c:pt>
                  <c:pt idx="3">
                    <c:v>Greeting cards (2033)</c:v>
                  </c:pt>
                  <c:pt idx="4">
                    <c:v>Digital journal apps (2034)</c:v>
                  </c:pt>
                  <c:pt idx="5">
                    <c:v>QR code labels (2030)</c:v>
                  </c:pt>
                  <c:pt idx="6">
                    <c:v>Digital product passports (2033)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65.3</c:v>
                </c:pt>
                <c:pt idx="1">
                  <c:v>50</c:v>
                </c:pt>
                <c:pt idx="2">
                  <c:v>33.1</c:v>
                </c:pt>
                <c:pt idx="3">
                  <c:v>23</c:v>
                </c:pt>
                <c:pt idx="4">
                  <c:v>15.2</c:v>
                </c:pt>
                <c:pt idx="5">
                  <c:v>4.7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3D2E24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2E2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FE7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7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Consumer tokens</c:v>
                </c:pt>
              </c:strCache>
            </c:strRef>
          </c:tx>
          <c:spPr>
            <a:solidFill>
              <a:srgbClr val="C9A0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30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Unlocks + modulars</c:v>
                </c:pt>
              </c:strCache>
            </c:strRef>
          </c:tx>
          <c:spPr>
            <a:solidFill>
              <a:srgbClr val="81B2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5.25</c:v>
                </c:pt>
                <c:pt idx="1">
                  <c:v>28</c:v>
                </c:pt>
                <c:pt idx="2">
                  <c:v>77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Insights subs</c:v>
                </c:pt>
              </c:strCache>
            </c:strRef>
          </c:tx>
          <c:spPr>
            <a:solidFill>
              <a:srgbClr val="B87B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3.6</c:v>
                </c:pt>
                <c:pt idx="1">
                  <c:v>24</c:v>
                </c:pt>
                <c:pt idx="2">
                  <c:v>108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Boutique subs + minting</c:v>
                </c:pt>
              </c:strCache>
            </c:strRef>
          </c:tx>
          <c:spPr>
            <a:solidFill>
              <a:srgbClr val="8B3A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6.6</c:v>
                </c:pt>
                <c:pt idx="1">
                  <c:v>44</c:v>
                </c:pt>
                <c:pt idx="2">
                  <c:v>198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DPP pilot</c:v>
                </c:pt>
              </c:strCache>
            </c:strRef>
          </c:tx>
          <c:spPr>
            <a:solidFill>
              <a:srgbClr val="4320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D2E2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FE7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6B5751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6B5751"/>
                    </a:solidFill>
                    <a:latin typeface="Arial"/>
                  </a:rPr>
                  <a:t>Revenue ($K)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57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2E24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Duyên: Vietnamese for the invisible threads of fate. Consumer memory platform + small-business product QR platform, one codebase, live and monetizing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Origin: the word itself. Gifts and objects carry stories that evaporate within a generation. Post-pandemic QR habit removed the behavior barrier. Business side grew organically from the consumer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Scanova, QR Tiger, QRCodeChimp, Mordor Intelligence — full citations in the business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DPP market: $275M (2025) → $3.0B (2033), ~35% CAGR. On-pack QR + DPP: $3.3B (2026) → $13.9B (2036). Compliance QRs are per-unit, permanent, and mandatory — non-discretionary recurring revenue on the existing $0.10/QR minting engine.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emotional core: Duyên means connections that are meant to be. The product makes them permanent.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0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18608" y="868680"/>
            <a:ext cx="1554480" cy="1554480"/>
          </a:xfrm>
          <a:prstGeom prst="ellipse">
            <a:avLst/>
          </a:prstGeom>
          <a:solidFill>
            <a:srgbClr val="8B3A7F"/>
          </a:solidFill>
          <a:ln w="19050">
            <a:solidFill>
              <a:srgbClr val="B87B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18608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緣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914400" y="269748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DUYÊN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D9A7D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Life's Tapestry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11680" y="4526280"/>
            <a:ext cx="8165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QR-native platform that turns physical moments into lasting memories —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physical products into living storefronts.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94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Pitch · August 2026 · duyen.io / duyen.tech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began with a word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600200"/>
            <a:ext cx="4937760" cy="4480560"/>
          </a:xfrm>
          <a:prstGeom prst="roundRect">
            <a:avLst>
              <a:gd name="adj" fmla="val 2449"/>
            </a:avLst>
          </a:prstGeom>
          <a:solidFill>
            <a:srgbClr val="F7F3F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965960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i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duyên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zwee·en /  ·  Vietnamese  ·  noun  ·  緣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invisible threads connecting us to the people, places, and things that shape our lives — connections woven by fate, chance, and the choices we make.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52578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Founder: [name] — Vietnamese-heritage builder; bio to be added.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89320" y="1645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observations shaped the product: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89320" y="2148840"/>
            <a:ext cx="566928" cy="566928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36721" y="2296241"/>
            <a:ext cx="272125" cy="27212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766560" y="21031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gifts are mute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766560" y="2450592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holds 20 words. There is no mainstream way to attach a voice, a video, or a dated memory to an object that outlives the wrapping paper.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3520440"/>
            <a:ext cx="566928" cy="566928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6721" y="3667841"/>
            <a:ext cx="272125" cy="27212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766560" y="34747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behavior barrier is gone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766560" y="3822192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is now a reflex — menus, payments, boarding passes. The hardware and the habit exist; what's missing is something meaningful to scan.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989320" y="4892040"/>
            <a:ext cx="566928" cy="566928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6721" y="5039441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66560" y="484632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makers share the same problem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766560" y="5193792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boutique's product hangs on a rack with a price tag and nothing else. The same “attach a story to a thing” mechanic serves gift-givers and makers alike.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gaps, one missing thread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don't travel with the things that carry them.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532120" cy="2148840"/>
          </a:xfrm>
          <a:prstGeom prst="roundRect">
            <a:avLst>
              <a:gd name="adj" fmla="val 4255"/>
            </a:avLst>
          </a:prstGeom>
          <a:solidFill>
            <a:srgbClr val="F7F3F8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659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98424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gifting gap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25603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cards are a ~$20B/yr market built on 20 words and a signature. 58% of consumers now prefer personalized gifts — no mainstream product attaches rich, permanent media to a physical gift.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1691640"/>
            <a:ext cx="5532120" cy="2148840"/>
          </a:xfrm>
          <a:prstGeom prst="roundRect">
            <a:avLst>
              <a:gd name="adj" fmla="val 4255"/>
            </a:avLst>
          </a:prstGeom>
          <a:solidFill>
            <a:srgbClr val="F7F3F8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9659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046" y="21086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60920" y="198424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gap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75120" y="256032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pile up in camera rolls with no narrative. Journaling apps ($5.7B, ~11%/yr) capture text but aren't anchored to physical objects, givers, or places.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02920" y="4160520"/>
            <a:ext cx="5532120" cy="2148840"/>
          </a:xfrm>
          <a:prstGeom prst="roundRect">
            <a:avLst>
              <a:gd name="adj" fmla="val 4255"/>
            </a:avLst>
          </a:prstGeom>
          <a:solidFill>
            <a:srgbClr val="F7F3F8"/>
          </a:solidFill>
          <a:ln/>
        </p:spPr>
      </p:sp>
      <p:sp>
        <p:nvSpPr>
          <p:cNvPr id="15" name="Shape 11"/>
          <p:cNvSpPr/>
          <p:nvPr/>
        </p:nvSpPr>
        <p:spPr>
          <a:xfrm>
            <a:off x="777240" y="44348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57748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45312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small-maker gap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2960" y="502920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connected-packaging platforms serve global CPG brands. A boutique with 40 SKUs has nothing at its price point.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355080" y="4160520"/>
            <a:ext cx="5532120" cy="2148840"/>
          </a:xfrm>
          <a:prstGeom prst="roundRect">
            <a:avLst>
              <a:gd name="adj" fmla="val 4255"/>
            </a:avLst>
          </a:prstGeom>
          <a:solidFill>
            <a:srgbClr val="F7F3F8"/>
          </a:solidFill>
          <a:ln/>
        </p:spPr>
      </p:sp>
      <p:sp>
        <p:nvSpPr>
          <p:cNvPr id="20" name="Shape 15"/>
          <p:cNvSpPr/>
          <p:nvPr/>
        </p:nvSpPr>
        <p:spPr>
          <a:xfrm>
            <a:off x="6629400" y="443484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2046" y="457748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60920" y="4453128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gap (textiles)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75120" y="5029200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~2028, every garment sold in the EU needs a QR-accessible Digital Product Passport. Millions of small brands will need a cheap, simple way to comply.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thread, two sides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codebase serving people and the makers they love.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7F3F8"/>
          </a:solidFill>
          <a:ln w="12700">
            <a:solidFill>
              <a:srgbClr val="E8DDD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duyen.io — for people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68680" y="23591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life tapestry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283464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307" y="2958267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27980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1508760" y="3090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Photos, video, voice notes — dated to when they actually happened.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68680" y="36758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307" y="3799515"/>
            <a:ext cx="228234" cy="2282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&amp; receive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508760" y="3931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a moment onto a QR note; the receiver keeps it forever.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68680" y="451713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307" y="4640763"/>
            <a:ext cx="228234" cy="22823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480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Tapestry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508760" y="4773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timeline woven month by month.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868680" y="5358384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307" y="5482011"/>
            <a:ext cx="228234" cy="22823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53218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vault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1508760" y="56144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save any QR / link — never lose it.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355080" y="169164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E8DDD6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720840" y="19202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duyen.tech — for makers</a:t>
            </a:r>
            <a:endParaRPr lang="en-US" sz="2200" dirty="0"/>
          </a:p>
        </p:txBody>
      </p:sp>
      <p:sp>
        <p:nvSpPr>
          <p:cNvPr id="25" name="Text 19"/>
          <p:cNvSpPr/>
          <p:nvPr/>
        </p:nvSpPr>
        <p:spPr>
          <a:xfrm>
            <a:off x="6720840" y="235915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storefront on every product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720840" y="283464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467" y="2958267"/>
            <a:ext cx="228234" cy="22823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360920" y="27980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profiles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7360920" y="3090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via a physical card or a $20 unlock.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6720840" y="36758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4467" y="3799515"/>
            <a:ext cx="228234" cy="22823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360920" y="36393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Modulars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7360920" y="393192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/ menu QR: profile + the product's own story.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720840" y="4517136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4467" y="4640763"/>
            <a:ext cx="228234" cy="228234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7360920" y="44805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keepsakes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7360920" y="477316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scanned product becomes a memory in the customer's tapestry.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6720840" y="5358384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4467" y="5482011"/>
            <a:ext cx="228234" cy="228234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7360920" y="53218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&amp; minting</a:t>
            </a:r>
            <a:endParaRPr lang="en-US" sz="1350" dirty="0"/>
          </a:p>
        </p:txBody>
      </p:sp>
      <p:sp>
        <p:nvSpPr>
          <p:cNvPr id="41" name="Text 31"/>
          <p:cNvSpPr/>
          <p:nvPr/>
        </p:nvSpPr>
        <p:spPr>
          <a:xfrm>
            <a:off x="7360920" y="561441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analytics, push promotions, bulk QR at $0.10.</a:t>
            </a:r>
            <a:endParaRPr lang="en-US" sz="1100" dirty="0"/>
          </a:p>
        </p:txBody>
      </p:sp>
      <p:sp>
        <p:nvSpPr>
          <p:cNvPr id="42" name="Text 32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43" name="Text 33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0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now: scanning is a reflex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9A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pandemic built the habit. The habit is now cross-generational — and still compounding.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828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552B4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C6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trillion+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6868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scans projected worldwide in 2025 — a first in the technology's history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55080" y="182880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552B4F"/>
          </a:solidFill>
          <a:ln/>
        </p:spPr>
      </p:sp>
      <p:sp>
        <p:nvSpPr>
          <p:cNvPr id="8" name="Text 6"/>
          <p:cNvSpPr/>
          <p:nvPr/>
        </p:nvSpPr>
        <p:spPr>
          <a:xfrm>
            <a:off x="6720840" y="20574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C6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720840" y="28803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smartphone users scanned a QR in 2025 — 1 in 3 Americans with a phone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393192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552B4F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41605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C6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+323%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68680" y="4983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QR usage from 2021 to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55080" y="393192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552B4F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416052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C6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+38%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720840" y="4983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scanning among adults 45–64 (2023–2026) — not a youth fad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60807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A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~2.9B people worldwide use QR codes · Global QR market: $15.2B (2026) → $33.1B (2031), 16.8% CAGR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markets Duyên threads together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Serviceable market = personalized gifting ∩ long-tail product QR, with compliance as a forced-adoption catalyst.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37360"/>
          <a:ext cx="74066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920240"/>
            <a:ext cx="502920" cy="502920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639" y="2050999"/>
            <a:ext cx="241402" cy="24140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869680" y="18928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grower</a:t>
            </a:r>
            <a:endParaRPr lang="en-US" sz="1350" dirty="0"/>
          </a:p>
        </p:txBody>
      </p:sp>
      <p:sp>
        <p:nvSpPr>
          <p:cNvPr id="8" name="Text 4"/>
          <p:cNvSpPr/>
          <p:nvPr/>
        </p:nvSpPr>
        <p:spPr>
          <a:xfrm>
            <a:off x="8869680" y="21945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passports: ~35% CAGR ($275M → $3.0B by 2033), driven by EU mandates.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8183880" y="3383280"/>
            <a:ext cx="502920" cy="502920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639" y="3514039"/>
            <a:ext cx="241402" cy="24140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869680" y="33558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preference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8869680" y="36576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58% of consumers prefer personalized gifts — the fastest-growing gifting segment.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183880" y="4846320"/>
            <a:ext cx="502920" cy="502920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639" y="4977079"/>
            <a:ext cx="241402" cy="24140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69680" y="481888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Ripe for disruption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8869680" y="51206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cards: $20B/yr, growing just 1.9% — a large, static incumbent spend.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 — live on Stripe today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below is running in production, not a roadmap item.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3749040" cy="4434840"/>
          </a:xfrm>
          <a:prstGeom prst="roundRect">
            <a:avLst>
              <a:gd name="adj" fmla="val 2927"/>
            </a:avLst>
          </a:prstGeom>
          <a:solidFill>
            <a:srgbClr val="F7F3F8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1086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2996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743200"/>
            <a:ext cx="3154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tokens
</a:t>
            </a:r>
            <a:pPr indent="0" marL="0">
              <a:buNone/>
            </a:pPr>
            <a:r>
              <a:rPr lang="en-US" sz="12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10 moments free, then $5 per 5-pack — $1 per moment sent.
</a:t>
            </a:r>
            <a:pPr indent="0" marL="0">
              <a:buNone/>
            </a:pPr>
            <a:r>
              <a:rPr lang="en-US" sz="140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 is free forever
</a:t>
            </a:r>
            <a:pPr indent="0" marL="0">
              <a:buNone/>
            </a:pPr>
            <a:r>
              <a:rPr lang="en-US" sz="12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act is authoring; the viral loop (receiving a gift) stays frictionless.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457200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E8DD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965960"/>
            <a:ext cx="548640" cy="548640"/>
          </a:xfrm>
          <a:prstGeom prst="ellipse">
            <a:avLst/>
          </a:prstGeom>
          <a:solidFill>
            <a:srgbClr val="F7F3F8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966" y="21086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20299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ladder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846320" y="274320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6309360" y="27432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a physical Duyên Note card → QR generator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46320" y="34015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 one-time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309360" y="3401568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unlock: generator + first product modular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846320" y="4059936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 each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309360" y="4059936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modulars (product / menu QRs)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846320" y="471830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$9.99 / mo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309360" y="4718304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Insights: scan analytics + push promotions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846320" y="537667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$19.99 / mo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6309360" y="5376672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Boutique: bulk QR minting at $0.10 per code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9372600" y="1691640"/>
            <a:ext cx="2313432" cy="4434840"/>
          </a:xfrm>
          <a:prstGeom prst="roundRect">
            <a:avLst>
              <a:gd name="adj" fmla="val 4743"/>
            </a:avLst>
          </a:prstGeom>
          <a:solidFill>
            <a:srgbClr val="43203E"/>
          </a:solidFill>
          <a:ln/>
        </p:spPr>
      </p:sp>
      <p:sp>
        <p:nvSpPr>
          <p:cNvPr id="24" name="Text 20"/>
          <p:cNvSpPr/>
          <p:nvPr/>
        </p:nvSpPr>
        <p:spPr>
          <a:xfrm>
            <a:off x="9646920" y="19659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9646920" y="2423160"/>
            <a:ext cx="1783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compliance tier
</a:t>
            </a:r>
            <a:pPr indent="0" marL="0">
              <a:buNone/>
            </a:pPr>
            <a:r>
              <a:rPr lang="en-US" sz="105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~$49/mo per textile brand + per-unit QRs
</a:t>
            </a:r>
            <a:pPr indent="0" marL="0">
              <a:buNone/>
            </a:pPr>
            <a:r>
              <a:rPr lang="en-US" sz="105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
</a:t>
            </a:r>
            <a:pPr indent="0" marL="0">
              <a:buNone/>
            </a:pPr>
            <a:r>
              <a:rPr lang="en-US" sz="105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“Buy again / gift this” — 5–10% take
</a:t>
            </a:r>
            <a:pPr indent="0" marL="0">
              <a:buNone/>
            </a:pPr>
            <a:r>
              <a:rPr lang="en-US" sz="105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tapestry
</a:t>
            </a:r>
            <a:pPr indent="0" marL="0">
              <a:buNone/>
            </a:pPr>
            <a:r>
              <a:rPr lang="en-US" sz="105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$3–5/mo: storage, printed yearbooks, family sharing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regulatory tailwind: textile passports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ESPR: every garment sold in the EU will carry a QR-accessible Digital Product Passport.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63040" y="1783080"/>
            <a:ext cx="777240" cy="777240"/>
          </a:xfrm>
          <a:prstGeom prst="ellipse">
            <a:avLst/>
          </a:prstGeom>
          <a:solidFill>
            <a:srgbClr val="F7F3F8"/>
          </a:solidFill>
          <a:ln w="15875">
            <a:solidFill>
              <a:srgbClr val="8B3A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6304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2331720" y="2167128"/>
            <a:ext cx="1051560" cy="0"/>
          </a:xfrm>
          <a:prstGeom prst="line">
            <a:avLst/>
          </a:prstGeom>
          <a:noFill/>
          <a:ln w="25400">
            <a:solidFill>
              <a:srgbClr val="C9A0C4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2024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 enters into force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3346704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Passport framework becomes EU law.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34840" y="1783080"/>
            <a:ext cx="777240" cy="777240"/>
          </a:xfrm>
          <a:prstGeom prst="ellipse">
            <a:avLst/>
          </a:prstGeom>
          <a:solidFill>
            <a:srgbClr val="F7F3F8"/>
          </a:solidFill>
          <a:ln w="15875">
            <a:solidFill>
              <a:srgbClr val="8B3A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0" y="2167128"/>
            <a:ext cx="1051560" cy="0"/>
          </a:xfrm>
          <a:prstGeom prst="line">
            <a:avLst/>
          </a:prstGeom>
          <a:noFill/>
          <a:ln w="25400">
            <a:solidFill>
              <a:srgbClr val="C9A0C4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47472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2025–26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3017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Preparatory phase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611880" y="3346704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Studies + stakeholder consultation for the textile delegated act.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06640" y="1783080"/>
            <a:ext cx="777240" cy="777240"/>
          </a:xfrm>
          <a:prstGeom prst="ellipse">
            <a:avLst/>
          </a:prstGeom>
          <a:solidFill>
            <a:srgbClr val="F7F3F8"/>
          </a:solidFill>
          <a:ln w="15875">
            <a:solidFill>
              <a:srgbClr val="8B3A7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0664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75320" y="2167128"/>
            <a:ext cx="1051560" cy="0"/>
          </a:xfrm>
          <a:prstGeom prst="line">
            <a:avLst/>
          </a:prstGeom>
          <a:noFill/>
          <a:ln w="25400">
            <a:solidFill>
              <a:srgbClr val="C9A0C4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44652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6520" y="3017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Textile delegated act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83680" y="3346704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adoption per the ESPR Working Plan 2025–2030.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378440" y="1783080"/>
            <a:ext cx="777240" cy="777240"/>
          </a:xfrm>
          <a:prstGeom prst="ellipse">
            <a:avLst/>
          </a:prstGeom>
          <a:solidFill>
            <a:srgbClr val="8B3A7F"/>
          </a:solidFill>
          <a:ln w="15875">
            <a:solidFill>
              <a:srgbClr val="8B3A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7844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418320" y="26974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~2028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418320" y="301752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compliance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555480" y="3346704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DPP required for textiles sold in the EU (≥18 months after adoption).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02920" y="4343400"/>
            <a:ext cx="5532120" cy="1828800"/>
          </a:xfrm>
          <a:prstGeom prst="roundRect">
            <a:avLst>
              <a:gd name="adj" fmla="val 5000"/>
            </a:avLst>
          </a:prstGeom>
          <a:solidFill>
            <a:srgbClr val="F7F3F8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526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per garment (expected)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2296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composition · country of manufacture · care instructions · chemical use · durability · repair &amp; resale options · environmental impact — all behind a QR on the label or hangtag.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55080" y="4343400"/>
            <a:ext cx="5330952" cy="1828800"/>
          </a:xfrm>
          <a:prstGeom prst="roundRect">
            <a:avLst>
              <a:gd name="adj" fmla="val 5000"/>
            </a:avLst>
          </a:prstGeom>
          <a:solidFill>
            <a:srgbClr val="43203E"/>
          </a:solidFill>
          <a:ln/>
        </p:spPr>
      </p:sp>
      <p:sp>
        <p:nvSpPr>
          <p:cNvPr id="31" name="Text 29"/>
          <p:cNvSpPr/>
          <p:nvPr/>
        </p:nvSpPr>
        <p:spPr>
          <a:xfrm>
            <a:off x="6675120" y="452628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Duyên wins the long tail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675120" y="4864608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Duyên's product modular is already the right shape: a per-product QR resolving to structured data + the maker's story. Enterprise platforms will fight over Inditex; millions of SMEs need a sub-$50/month answer — Duyên's existing customer and price point.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Illustrative revenue build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Bottom-up, base case, at live production prices. Assumptions to validate — not forecasts of record.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78308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828800"/>
            <a:ext cx="3913632" cy="1051560"/>
          </a:xfrm>
          <a:prstGeom prst="roundRect">
            <a:avLst>
              <a:gd name="adj" fmla="val 6957"/>
            </a:avLst>
          </a:prstGeom>
          <a:solidFill>
            <a:srgbClr val="F7F3F8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0" y="193852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35440" y="18745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~$19.5K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04672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consumers · 150 businesses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772400" y="3063240"/>
            <a:ext cx="3913632" cy="1051560"/>
          </a:xfrm>
          <a:prstGeom prst="roundRect">
            <a:avLst>
              <a:gd name="adj" fmla="val 6957"/>
            </a:avLst>
          </a:prstGeom>
          <a:solidFill>
            <a:srgbClr val="F7F3F8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0" y="3172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235440" y="31089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~$126K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046720" y="363016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 consumers · 800 businesses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72400" y="4297680"/>
            <a:ext cx="3913632" cy="1051560"/>
          </a:xfrm>
          <a:prstGeom prst="roundRect">
            <a:avLst>
              <a:gd name="adj" fmla="val 6957"/>
            </a:avLst>
          </a:prstGeom>
          <a:solidFill>
            <a:srgbClr val="43203E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0" y="44074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235440" y="4343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~$563K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46720" y="48646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250K consumers · 3,000 businesses · 50 DPP pilots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72400" y="5623560"/>
            <a:ext cx="3913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Y3: converting 2,000 EU-exporting small textile brands at ~$600/yr ≈ $1.2M/yr from compliance alone.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D2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self-funding flywheel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02920" y="1024128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physical card is both a product with margin and an acquisition channel.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7F3F8"/>
          </a:solidFill>
          <a:ln/>
        </p:spPr>
      </p:sp>
      <p:sp>
        <p:nvSpPr>
          <p:cNvPr id="5" name="Shape 3"/>
          <p:cNvSpPr/>
          <p:nvPr/>
        </p:nvSpPr>
        <p:spPr>
          <a:xfrm>
            <a:off x="795528" y="2011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929" y="2159081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7568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&amp; print runs sold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7889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Duyên Note card sold at retail creates a consumer or business account when claimed — CAC that pays for itself.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114800" y="2606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480560" y="173736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7F3F8"/>
          </a:solidFill>
          <a:ln/>
        </p:spPr>
      </p:sp>
      <p:sp>
        <p:nvSpPr>
          <p:cNvPr id="11" name="Shape 8"/>
          <p:cNvSpPr/>
          <p:nvPr/>
        </p:nvSpPr>
        <p:spPr>
          <a:xfrm>
            <a:off x="4773168" y="2011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0569" y="215908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86400" y="207568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Moments recruit receivers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800600" y="27889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gifted moment introduces its receiver to Duyên; receiving is free and personal, so the loop stays warm.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092440" y="26060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2"/>
          <p:cNvSpPr/>
          <p:nvPr/>
        </p:nvSpPr>
        <p:spPr>
          <a:xfrm>
            <a:off x="8458200" y="1737360"/>
            <a:ext cx="3611880" cy="2331720"/>
          </a:xfrm>
          <a:prstGeom prst="roundRect">
            <a:avLst>
              <a:gd name="adj" fmla="val 4706"/>
            </a:avLst>
          </a:prstGeom>
          <a:solidFill>
            <a:srgbClr val="F7F3F8"/>
          </a:solidFill>
          <a:ln/>
        </p:spPr>
      </p:sp>
      <p:sp>
        <p:nvSpPr>
          <p:cNvPr id="17" name="Shape 13"/>
          <p:cNvSpPr/>
          <p:nvPr/>
        </p:nvSpPr>
        <p:spPr>
          <a:xfrm>
            <a:off x="8750808" y="201168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8209" y="2159081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464040" y="207568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B3A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Keepsakes surface makers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8778240" y="278892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product keepsake puts the business in the customer's tapestry — repeat discovery without ad spend.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50292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advantages</a:t>
            </a:r>
            <a:endParaRPr lang="en-US" sz="15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1947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60120" y="48920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marginal cost — static PWA + Supabase; no build step, no app-store tax on web payments.</a:t>
            </a:r>
            <a:endParaRPr lang="en-US" sz="12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422392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60120" y="53949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Permanence as moat — tapestries and keepsakes accrue switching cost with every scan; codes resolve to owned, personal content, not ads.</a:t>
            </a:r>
            <a:endParaRPr lang="en-US" sz="12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925312"/>
            <a:ext cx="274320" cy="27432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6012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57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Ships small, ships often — production deploys are single-change increments, already the working practice.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DUYÊN · Investor Pitch · August 2026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1147572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99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0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55768" y="914400"/>
            <a:ext cx="1280160" cy="1280160"/>
          </a:xfrm>
          <a:prstGeom prst="ellipse">
            <a:avLst/>
          </a:prstGeom>
          <a:solidFill>
            <a:srgbClr val="8B3A7F"/>
          </a:solidFill>
          <a:ln w="15875">
            <a:solidFill>
              <a:srgbClr val="B87BA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55768" y="91440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緣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514600"/>
            <a:ext cx="10360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Weave the moments of your life.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828800" y="3474720"/>
            <a:ext cx="8531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monetizing product · a cross-generational scanning habit ·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E9D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regulatory wave that makes every garment a customer.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28800" y="4617720"/>
            <a:ext cx="8531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A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[round size &amp; use of funds — to be completed by the founder]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3C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duyen.io  ·  duyen.tech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2026-08-13T21:40:48Z</dcterms:created>
  <dcterms:modified xsi:type="dcterms:W3CDTF">2026-08-13T21:40:48Z</dcterms:modified>
</cp:coreProperties>
</file>