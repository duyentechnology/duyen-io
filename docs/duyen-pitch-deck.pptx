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market size ($B)</c:v>
                </c:pt>
              </c:strCache>
            </c:strRef>
          </c:tx>
          <c:spPr>
            <a:solidFill>
              <a:srgbClr val="8B3A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2E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Connected packaging (2036)</c:v>
                  </c:pt>
                  <c:pt idx="1">
                    <c:v>Personalized gifts (2033)</c:v>
                  </c:pt>
                  <c:pt idx="2">
                    <c:v>QR codes (2031)</c:v>
                  </c:pt>
                  <c:pt idx="3">
                    <c:v>Greeting cards (2033)</c:v>
                  </c:pt>
                  <c:pt idx="4">
                    <c:v>Digital journal apps (2034)</c:v>
                  </c:pt>
                  <c:pt idx="5">
                    <c:v>QR code labels (2030)</c:v>
                  </c:pt>
                  <c:pt idx="6">
                    <c:v>Digital product passports (2033)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65.3</c:v>
                </c:pt>
                <c:pt idx="1">
                  <c:v>50</c:v>
                </c:pt>
                <c:pt idx="2">
                  <c:v>33.1</c:v>
                </c:pt>
                <c:pt idx="3">
                  <c:v>23</c:v>
                </c:pt>
                <c:pt idx="4">
                  <c:v>15.2</c:v>
                </c:pt>
                <c:pt idx="5">
                  <c:v>4.7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D2E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2E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FE7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7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 tokens</c:v>
                </c:pt>
              </c:strCache>
            </c:strRef>
          </c:tx>
          <c:spPr>
            <a:solidFill>
              <a:srgbClr val="C9A0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Unlocks + modulars</c:v>
                </c:pt>
              </c:strCache>
            </c:strRef>
          </c:tx>
          <c:spPr>
            <a:solidFill>
              <a:srgbClr val="81B2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5.25</c:v>
                </c:pt>
                <c:pt idx="1">
                  <c:v>28</c:v>
                </c:pt>
                <c:pt idx="2">
                  <c:v>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Insights subs</c:v>
                </c:pt>
              </c:strCache>
            </c:strRef>
          </c:tx>
          <c:spPr>
            <a:solidFill>
              <a:srgbClr val="B87B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</c:v>
                </c:pt>
                <c:pt idx="1">
                  <c:v>24</c:v>
                </c:pt>
                <c:pt idx="2">
                  <c:v>108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Boutique subs + minting</c:v>
                </c:pt>
              </c:strCache>
            </c:strRef>
          </c:tx>
          <c:spPr>
            <a:solidFill>
              <a:srgbClr val="8B3A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6.6</c:v>
                </c:pt>
                <c:pt idx="1">
                  <c:v>44</c:v>
                </c:pt>
                <c:pt idx="2">
                  <c:v>198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DPP pilot</c:v>
                </c:pt>
              </c:strCache>
            </c:strRef>
          </c:tx>
          <c:spPr>
            <a:solidFill>
              <a:srgbClr val="4320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D2E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FE7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5751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5751"/>
                    </a:solidFill>
                    <a:latin typeface="Arial"/>
                  </a:rPr>
                  <a:t>Revenue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7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2E2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Duyên: Vietnamese for the invisible threads of fate. Consumer memory platform + small-business product QR platform, one codebase, live and monetizing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Origin: the word itself. Gifts and objects carry stories that evaporate within a generation. Post-pandemic QR habit removed the behavior barrier. Business side grew organically from the consumer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Scanova, QR Tiger, QRCodeChimp, Mordor Intelligence — full citations in the business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DPP market: $275M (2025) → $3.0B (2033), ~35% CAGR. SB 707: scannable care/repair/resale layer is a documentable producer reuse-and-repair program — exactly what eco-modulated fees must credit; scan logs make it auditable. Full stewardship program by 2030; fee methodology being designed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emotional core: Duyên means connections that are meant to be. The product makes them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868680"/>
            <a:ext cx="1554480" cy="1554480"/>
          </a:xfrm>
          <a:prstGeom prst="ellipse">
            <a:avLst/>
          </a:prstGeom>
          <a:solidFill>
            <a:srgbClr val="8B3A7F"/>
          </a:solidFill>
          <a:ln w="19050">
            <a:solidFill>
              <a:srgbClr val="B87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8608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緣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DUYÊN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9A7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Life's Tapestry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452628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QR-native platform that turns physical moments into lasting memories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physical products into living storefronts.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August 2026 · duyen.io / duyen.tech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began with a word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7F3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65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duyên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zwee·en /  ·  Vietnamese  ·  noun  ·  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invisible threads connecting us to the people, places, and things that shape our lives — connections woven by fate, chance, and the choices we make.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[name] — Vietnamese-heritage builder; bio to be added.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observations shaped the product: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2148840"/>
            <a:ext cx="566928" cy="566928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6721" y="229624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0" y="2103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gifts are mute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66560" y="245059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holds 20 words. There is no mainstream way to attach a voice, a video, or a dated memory to an object that outlives the wrapping paper.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3520440"/>
            <a:ext cx="566928" cy="566928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721" y="36678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3474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behavior barrier is gone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766560" y="382219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is now a reflex — menus, payments, boarding passes. The hardware and the habit exist; what's missing is something meaningful to scan.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89320" y="4892040"/>
            <a:ext cx="566928" cy="566928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721" y="503944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4846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makers share the same problem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766560" y="519379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boutique's product hangs on a rack with a price tag and nothing else. The same “attach a story to a thing” mechanic serves gift-givers and makers alike.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gaps, one missing thread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don't travel with the things that carry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F7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842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gifting gap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cards are a ~$20B/yr market built on 20 words and a signature. 58% of consumers now prefer personalized gifts — no mainstream product attaches rich, permanent media to a physical gift.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F7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1086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gap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75120" y="25603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pile up in camera rolls with no narrative. Journaling apps ($5.7B, ~11%/yr) capture text but aren't anchored to physical objects, givers, or places.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16052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F7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577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53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small-maker gap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connected-packaging platforms serve global CPG brands. A boutique with 40 SKUs has nothing at its price point.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532120" cy="2148840"/>
          </a:xfrm>
          <a:prstGeom prst="roundRect">
            <a:avLst>
              <a:gd name="adj" fmla="val 4255"/>
            </a:avLst>
          </a:prstGeom>
          <a:solidFill>
            <a:srgbClr val="F7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434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4577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53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gap (textiles)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75120" y="50292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~2028, every garment sold in the EU needs a QR-accessible Digital Product Passport. Millions of small brands will need a cheap, simple way to comply.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thread, two sides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codebase serving people and the makers they love.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32120" cy="4480560"/>
          </a:xfrm>
          <a:prstGeom prst="roundRect">
            <a:avLst>
              <a:gd name="adj" fmla="val 2449"/>
            </a:avLst>
          </a:prstGeom>
          <a:solidFill>
            <a:srgbClr val="F7F3F8"/>
          </a:solidFill>
          <a:ln w="12700">
            <a:solidFill>
              <a:srgbClr val="E8D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duyen.io — for people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life tapestry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307" y="2958267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798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08760" y="3090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video, voice notes — dated to when they actually happened.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6758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07" y="379951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&amp; receive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0876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moment onto a QR note; the receiver keeps it forever.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" y="45171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07" y="464076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Tapestry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4773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 timeline woven month by month.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" y="53583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07" y="5482011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5321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vault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508760" y="56144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save any QR / link — never lose it.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55080" y="1691640"/>
            <a:ext cx="5532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8DDD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72084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duyen.tech — for makers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6720840" y="2359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storefront on every product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720840" y="283464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467" y="2958267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2798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360920" y="3090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via a physical card or a $20 unlock.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720840" y="36758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467" y="3799515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36092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menu QR: profile + the product's own story.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720840" y="45171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467" y="4640763"/>
            <a:ext cx="228234" cy="22823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6092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keepsakes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7360920" y="4773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scanned product becomes a memory in the customer's tapestry.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20840" y="53583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467" y="5482011"/>
            <a:ext cx="228234" cy="22823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60920" y="5321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minting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7360920" y="56144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analytics, push promotions, bulk QR at $0.10.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scanning is a reflex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pandemic built the habit. The habit is now cross-generational — and still compounding.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552B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trillion+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scans projected worldwide in 2025 — a first in the technology's history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552B4F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057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72084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smartphone users scanned a QR in 2025 — 1 in 3 Americans with a phone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552B4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QR usage from 2021 to 2025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9319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55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C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2084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scanning among adults 45–64 (2023–2026) — not a youth fad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~2.9B people worldwide use QR codes · Global QR market: $15.2B (2026) → $33.1B (2031), 16.8% CAGR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markets Duyên threads together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market = personalized gifting ∩ long-tail product QR, with compliance as a forced-adoption catalyst.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3736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920240"/>
            <a:ext cx="502920" cy="502920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639" y="205099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9680" y="1892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869680" y="2194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passports: ~35% CAGR ($275M → $3.0B by 2033), driven by EU mandates.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183880" y="3383280"/>
            <a:ext cx="502920" cy="502920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639" y="351403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9680" y="3355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preference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869680" y="3657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consumers prefer personalized gifts — the fastest-growing gifting segment.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183880" y="4846320"/>
            <a:ext cx="502920" cy="502920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639" y="497707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69680" y="4818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 for disruption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869680" y="5120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cards: $20B/yr, growing just 1.9% — a large, static incumbent spend.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— live on Stripe today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below is running in production, not a roadmap item.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749040" cy="4434840"/>
          </a:xfrm>
          <a:prstGeom prst="roundRect">
            <a:avLst>
              <a:gd name="adj" fmla="val 2927"/>
            </a:avLst>
          </a:prstGeom>
          <a:solidFill>
            <a:srgbClr val="F7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tokens
</a:t>
            </a:r>
            <a:pPr indent="0" marL="0">
              <a:buNone/>
            </a:pPr>
            <a:r>
              <a:rPr lang="en-US" sz="12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moments free, then $5 per 5-pack — $1 per moment sent.
</a:t>
            </a:r>
            <a:pPr indent="0" marL="0">
              <a:buNone/>
            </a:pPr>
            <a:r>
              <a:rPr lang="en-US" sz="14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is free forever
</a:t>
            </a:r>
            <a:pPr indent="0" marL="0">
              <a:buNone/>
            </a:pPr>
            <a:r>
              <a:rPr lang="en-US" sz="12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act is authoring; the viral loop (receiving a gift) stays frictionless.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45720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8DD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965960"/>
            <a:ext cx="548640" cy="548640"/>
          </a:xfrm>
          <a:prstGeom prst="ellipse">
            <a:avLst/>
          </a:prstGeom>
          <a:solidFill>
            <a:srgbClr val="F7F3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1086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029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ladder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09360" y="2743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physical Duyên Note card → QR generator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34015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one-time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09360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unlock: generator + first product modular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40599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each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309360" y="405993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modulars (product / menu QRs)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47183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/ mo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09360" y="471830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scan analytics + push promotions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5376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 / mo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309360" y="53766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Boutique: bulk QR minting at $0.10 per code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372600" y="1691640"/>
            <a:ext cx="2313432" cy="4434840"/>
          </a:xfrm>
          <a:prstGeom prst="roundRect">
            <a:avLst>
              <a:gd name="adj" fmla="val 4743"/>
            </a:avLst>
          </a:prstGeom>
          <a:solidFill>
            <a:srgbClr val="43203E"/>
          </a:solidFill>
          <a:ln/>
        </p:spPr>
      </p:sp>
      <p:sp>
        <p:nvSpPr>
          <p:cNvPr id="24" name="Text 20"/>
          <p:cNvSpPr/>
          <p:nvPr/>
        </p:nvSpPr>
        <p:spPr>
          <a:xfrm>
            <a:off x="964692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9646920" y="2423160"/>
            <a:ext cx="1783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compliance tier
</a:t>
            </a:r>
            <a:pPr indent="0" marL="0">
              <a:buNone/>
            </a:pPr>
            <a:r>
              <a:rPr lang="en-US" sz="105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~$49/mo per textile brand + per-unit QRs
</a:t>
            </a:r>
            <a:pPr indent="0" marL="0">
              <a:buNone/>
            </a:pPr>
            <a:r>
              <a:rPr lang="en-US" sz="105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
</a:t>
            </a:r>
            <a:pPr indent="0" marL="0">
              <a:buNone/>
            </a:pPr>
            <a:r>
              <a:rPr lang="en-US" sz="105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 again / gift this” — 5–10% take
</a:t>
            </a:r>
            <a:pPr indent="0" marL="0">
              <a:buNone/>
            </a:pPr>
            <a:r>
              <a:rPr lang="en-US" sz="105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tapestry
</a:t>
            </a:r>
            <a:pPr indent="0" marL="0">
              <a:buNone/>
            </a:pPr>
            <a:r>
              <a:rPr lang="en-US" sz="105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$3–5/mo: storage, printed yearbooks, family sharing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regulatory tailwind, on two fronts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ESPR: every garment carries a QR product passport. California SB 707: producers now pay for textile end-of-life.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777240" cy="777240"/>
          </a:xfrm>
          <a:prstGeom prst="ellipse">
            <a:avLst/>
          </a:prstGeom>
          <a:solidFill>
            <a:srgbClr val="F7F3F8"/>
          </a:solidFill>
          <a:ln w="15875">
            <a:solidFill>
              <a:srgbClr val="8B3A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31720" y="2167128"/>
            <a:ext cx="1051560" cy="0"/>
          </a:xfrm>
          <a:prstGeom prst="line">
            <a:avLst/>
          </a:prstGeom>
          <a:noFill/>
          <a:ln w="25400">
            <a:solidFill>
              <a:srgbClr val="C9A0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 enters into force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34670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Passport framework becomes EU law.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777240" cy="777240"/>
          </a:xfrm>
          <a:prstGeom prst="ellipse">
            <a:avLst/>
          </a:prstGeom>
          <a:solidFill>
            <a:srgbClr val="F7F3F8"/>
          </a:solidFill>
          <a:ln w="15875">
            <a:solidFill>
              <a:srgbClr val="8B3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2167128"/>
            <a:ext cx="1051560" cy="0"/>
          </a:xfrm>
          <a:prstGeom prst="line">
            <a:avLst/>
          </a:prstGeom>
          <a:noFill/>
          <a:ln w="25400">
            <a:solidFill>
              <a:srgbClr val="C9A0C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4747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Preparatory phase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334670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+ stakeholder consultation for the textile delegated act.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1783080"/>
            <a:ext cx="777240" cy="777240"/>
          </a:xfrm>
          <a:prstGeom prst="ellipse">
            <a:avLst/>
          </a:prstGeom>
          <a:solidFill>
            <a:srgbClr val="F7F3F8"/>
          </a:solidFill>
          <a:ln w="15875">
            <a:solidFill>
              <a:srgbClr val="8B3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75320" y="2167128"/>
            <a:ext cx="1051560" cy="0"/>
          </a:xfrm>
          <a:prstGeom prst="line">
            <a:avLst/>
          </a:prstGeom>
          <a:noFill/>
          <a:ln w="25400">
            <a:solidFill>
              <a:srgbClr val="C9A0C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465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delegated act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334670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adoption per the ESPR Working Plan 2025–2030.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78440" y="1783080"/>
            <a:ext cx="777240" cy="777240"/>
          </a:xfrm>
          <a:prstGeom prst="ellipse">
            <a:avLst/>
          </a:prstGeom>
          <a:solidFill>
            <a:srgbClr val="8B3A7F"/>
          </a:solidFill>
          <a:ln w="15875">
            <a:solidFill>
              <a:srgbClr val="8B3A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183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compliance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555480" y="334670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required for textiles sold in the EU (≥18 months after adoption).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7F3F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507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per-garment data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8280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composition · origin · care · chemical use · durability · repair &amp; resale options · environmental impact — all behind a QR on the label or hangtag.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88536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7F3F8"/>
          </a:solidFill>
          <a:ln/>
        </p:spPr>
      </p:sp>
      <p:sp>
        <p:nvSpPr>
          <p:cNvPr id="31" name="Text 29"/>
          <p:cNvSpPr/>
          <p:nvPr/>
        </p:nvSpPr>
        <p:spPr>
          <a:xfrm>
            <a:off x="4562856" y="4507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— SB 707 (2024)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62856" y="48280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 textile EPR law. Producers &gt;$1M selling into CA had to join the PRO by Jul 1, 2026 (fines to $10K/day). Eco-modulated fees reward repair &amp; reuse programs — with SKU-level data reporting.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74152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43203E"/>
          </a:solidFill>
          <a:ln/>
        </p:spPr>
      </p:sp>
      <p:sp>
        <p:nvSpPr>
          <p:cNvPr id="34" name="Text 32"/>
          <p:cNvSpPr/>
          <p:nvPr/>
        </p:nvSpPr>
        <p:spPr>
          <a:xfrm>
            <a:off x="8348472" y="4507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Duyên wins the long tail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48472" y="48280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modular is already the right shape: per-product QR → structured data + the maker's story. One dataset serves EU DPP and SB 707 reporting, at a sub-$50/month price point enterprise platforms won't touch.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revenue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Bottom-up, base case, at live production prices. Assumptions to validate — not forecasts of record.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F7F3F8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354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~$19.5K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consumers · 150 businesses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30632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F7F3F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172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3544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~$126K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46720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consumers · 800 businesses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43203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544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~$563K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46720" y="4864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consumers · 3,000 businesses · 50 DPP pilots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5623560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Y3: converting 2,000 EU-exporting small textile brands at ~$600/yr ≈ $1.2M/yr from compliance alone.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self-funding flywheel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card is both a product with margin and an acquisition channel.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7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&amp; print runs sold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Duyên Note card sold at retail creates a consumer or business account when claimed — CAC that pays for itself.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7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4773168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69" y="21590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recruit receivers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80060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gifted moment introduces its receiver to Duyên; receiving is free and personal, so the loop stays warm.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0924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458200" y="17373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7F3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750808" y="2011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9" y="21590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64040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Keepsakes surface makers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77824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product keepsake puts the business in the customer's tapestry — repeat discovery without ad spend.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advantages</a:t>
            </a:r>
            <a:endParaRPr lang="en-US" sz="15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194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marginal cost — static PWA + Supabase; no build step, no app-store tax on web payments.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2239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Permanence as moat — tapestries and keepsakes accrue switching cost with every scan; codes resolve to owned, personal content, not ads.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92531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012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small, ships often — production deploys are single-change increments, already the working practice.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DUYÊN · Investor Pitch · August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914400"/>
            <a:ext cx="1280160" cy="1280160"/>
          </a:xfrm>
          <a:prstGeom prst="ellipse">
            <a:avLst/>
          </a:prstGeom>
          <a:solidFill>
            <a:srgbClr val="8B3A7F"/>
          </a:solidFill>
          <a:ln w="15875">
            <a:solidFill>
              <a:srgbClr val="B87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55768" y="914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緣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Weave the moments of your life.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74720"/>
            <a:ext cx="8531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monetizing product · a cross-generational scanning habit ·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9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regulatory wave that makes every garment a customer.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[round size &amp; use of funds — to be completed by the founder]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8064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duyen.io  ·  duyen.tech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2026-08-13T23:25:00Z</dcterms:created>
  <dcterms:modified xsi:type="dcterms:W3CDTF">2026-08-13T23:25:00Z</dcterms:modified>
</cp:coreProperties>
</file>